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0.502</c:v>
                </c:pt>
                <c:pt idx="1">
                  <c:v>0.991</c:v>
                </c:pt>
                <c:pt idx="2">
                  <c:v>0.971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0.205</c:v>
                </c:pt>
                <c:pt idx="1">
                  <c:v>0.924</c:v>
                </c:pt>
                <c:pt idx="2">
                  <c:v>0.926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0.291</c:v>
                </c:pt>
                <c:pt idx="1">
                  <c:v>0.956</c:v>
                </c:pt>
                <c:pt idx="2">
                  <c:v>0.948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importance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Satisfaction level</c:v>
                </c:pt>
                <c:pt idx="1">
                  <c:v>Time at company</c:v>
                </c:pt>
                <c:pt idx="2">
                  <c:v>Number of projects</c:v>
                </c:pt>
                <c:pt idx="3">
                  <c:v>Last evaluation</c:v>
                </c:pt>
                <c:pt idx="4">
                  <c:v>Work accident</c:v>
                </c:pt>
                <c:pt idx="5">
                  <c:v>Average monthly hours</c:v>
                </c:pt>
                <c:pt idx="6">
                  <c:v>Low salary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0.19</c:v>
                </c:pt>
                <c:pt idx="1">
                  <c:v>0.184</c:v>
                </c:pt>
                <c:pt idx="2">
                  <c:v>0.183</c:v>
                </c:pt>
                <c:pt idx="3">
                  <c:v>0.084</c:v>
                </c:pt>
                <c:pt idx="4">
                  <c:v>0.063</c:v>
                </c:pt>
                <c:pt idx="5">
                  <c:v>0.06</c:v>
                </c:pt>
                <c:pt idx="6">
                  <c:v>0.03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1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Employee Turnover Prediction</a:t>
            </a:r>
          </a:p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From workforce data to proactive retention decisions</a:t>
            </a:r>
          </a:p>
          <a:p>
            <a:pPr>
              <a:spcBef>
                <a:spcPts val="1800"/>
              </a:spcBef>
              <a:defRPr sz="1300">
                <a:solidFill>
                  <a:srgbClr val="FFFFFF"/>
                </a:solidFill>
                <a:latin typeface="Aptos"/>
              </a:defRPr>
            </a:pPr>
            <a:r>
              <a:t>HR &amp; Board Executive Briefing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D41"/>
                </a:solidFill>
                <a:latin typeface="Aptos Display"/>
              </a:defRPr>
            </a:pPr>
            <a:r>
              <a:t>Executive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t>A strong predictive model is available — the next challenge is converting it into responsible retention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46888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64208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92D41"/>
                </a:solidFill>
              </a:defRPr>
            </a:pPr>
            <a:r>
              <a:t>98.6%</a:t>
            </a:r>
          </a:p>
          <a:p>
            <a:pPr algn="ctr">
              <a:defRPr sz="1100">
                <a:solidFill>
                  <a:srgbClr val="5F6973"/>
                </a:solidFill>
              </a:defRPr>
            </a:pPr>
            <a:r>
              <a:t>Test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08760"/>
            <a:ext cx="246888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664208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92D41"/>
                </a:solidFill>
              </a:defRPr>
            </a:pPr>
            <a:r>
              <a:t>95.6%</a:t>
            </a:r>
          </a:p>
          <a:p>
            <a:pPr algn="ctr">
              <a:defRPr sz="1100">
                <a:solidFill>
                  <a:srgbClr val="5F6973"/>
                </a:solidFill>
              </a:defRPr>
            </a:pPr>
            <a:r>
              <a:t>F1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08760"/>
            <a:ext cx="246888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64208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92D41"/>
                </a:solidFill>
              </a:defRPr>
            </a:pPr>
            <a:r>
              <a:t>92.4%</a:t>
            </a:r>
          </a:p>
          <a:p>
            <a:pPr algn="ctr">
              <a:defRPr sz="1100">
                <a:solidFill>
                  <a:srgbClr val="5F6973"/>
                </a:solidFill>
              </a:defRPr>
            </a:pPr>
            <a:r>
              <a:t>Leaver 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508760"/>
            <a:ext cx="246888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1664208"/>
            <a:ext cx="21945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92D41"/>
                </a:solidFill>
              </a:defRPr>
            </a:pPr>
            <a:r>
              <a:t>0.980</a:t>
            </a:r>
          </a:p>
          <a:p>
            <a:pPr algn="ctr">
              <a:defRPr sz="1100">
                <a:solidFill>
                  <a:srgbClr val="5F6973"/>
                </a:solidFill>
              </a:defRPr>
            </a:pPr>
            <a:r>
              <a:t>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Random Forest is the preferred model: strong precision and recall with a small train–test performance gap.</a:t>
            </a:r>
          </a:p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Turnover risk is most strongly associated with satisfaction, tenure, project load, evaluation and working patterns.</a:t>
            </a:r>
          </a:p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Recommendation: pilot as an HR decision-support tool with human review and clear governance.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Salifort Motors | Employee Turnover Analysis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D41"/>
                </a:solidFill>
                <a:latin typeface="Aptos Display"/>
              </a:defRPr>
            </a:pPr>
            <a:r>
              <a:t>What the workforce data is telling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t>EDA identified distinct turnover patterns that can guide where HR investigates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Low satisfaction is a prominent signal among employees who left.</a:t>
            </a:r>
          </a:p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Turnover varies materially with number of projects and average monthly hours, pointing to workload and allocation as areas to investigate.</a:t>
            </a:r>
          </a:p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Tenure matters: departures are concentrated in particular years at the company rather than being evenly distributed.</a:t>
            </a:r>
          </a:p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Employees without a promotion in the last five years had a higher observed turnover rate; low-salary employees also showed higher turnover than medium/high salary groups.</a:t>
            </a:r>
          </a:p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These are associations, not proof that any one factor causes an employee to leave.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Salifort Motors | Employee Turnover Analysis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D41"/>
                </a:solidFill>
                <a:latin typeface="Aptos Display"/>
              </a:defRPr>
            </a:pPr>
            <a:r>
              <a:t>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t>Tree-based models materially outperform the logistic-regression baseline on identifying leavers.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17320"/>
          <a:ext cx="7498079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66760" y="1600200"/>
            <a:ext cx="3154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Random Forest: 98.6% accuracy; 99.1% precision; 92.4% recall; 95.6% F1.</a:t>
            </a:r>
          </a:p>
          <a:p>
            <a:pPr>
              <a:spcAft>
                <a:spcPts val="11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XGBoost is very close, but Random Forest has the higher F1 and fewer false positives.</a:t>
            </a:r>
          </a:p>
          <a:p>
            <a:pPr>
              <a:spcAft>
                <a:spcPts val="11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Logistic regression misses most leavers (20.5% recall), despite 83.4%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Salifort Motors | Employee Turnover Analysis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D41"/>
                </a:solidFill>
                <a:latin typeface="Aptos Display"/>
              </a:defRPr>
            </a:pPr>
            <a:r>
              <a:t>Validation supports a monitored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t>Performance is strong across holdout testing and stratified cross-validation.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Train vs test F1: 96.5% vs 95.6% — limited evidence of severe overfitting.</a:t>
            </a:r>
          </a:p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5-fold CV: accuracy 98.37%, precision 98.63%, recall 91.43%, F1 94.88%.</a:t>
            </a:r>
          </a:p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ROC-AUC 0.980 and PR-AUC 0.963 show strong ranking performance despite the minority leaver class.</a:t>
            </a:r>
          </a:p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Test confusion matrix: 2,496 true negatives, 460 true positives, 4 false positives and 38 false negatives.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600200"/>
            <a:ext cx="169164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9560" y="1764792"/>
            <a:ext cx="1508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92D41"/>
                </a:solidFill>
              </a:defRPr>
            </a:pPr>
            <a:r>
              <a:t>2,496</a:t>
            </a:r>
          </a:p>
          <a:p>
            <a:pPr algn="ctr">
              <a:defRPr sz="900">
                <a:solidFill>
                  <a:srgbClr val="5F6973"/>
                </a:solidFill>
              </a:defRPr>
            </a:pPr>
            <a:r>
              <a:t>Stayed correctly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38360" y="1600200"/>
            <a:ext cx="169164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1764792"/>
            <a:ext cx="1508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92D41"/>
                </a:solidFill>
              </a:defRPr>
            </a:pPr>
            <a:r>
              <a:t>4</a:t>
            </a:r>
          </a:p>
          <a:p>
            <a:pPr algn="ctr">
              <a:defRPr sz="900">
                <a:solidFill>
                  <a:srgbClr val="5F6973"/>
                </a:solidFill>
              </a:defRPr>
            </a:pPr>
            <a:r>
              <a:t>False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246120"/>
            <a:ext cx="169164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3410712"/>
            <a:ext cx="1508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92D41"/>
                </a:solidFill>
              </a:defRPr>
            </a:pPr>
            <a:r>
              <a:t>38</a:t>
            </a:r>
          </a:p>
          <a:p>
            <a:pPr algn="ctr">
              <a:defRPr sz="900">
                <a:solidFill>
                  <a:srgbClr val="5F6973"/>
                </a:solidFill>
              </a:defRPr>
            </a:pPr>
            <a:r>
              <a:t>Leavers missed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3246120"/>
            <a:ext cx="1691640" cy="1234440"/>
          </a:xfrm>
          <a:prstGeom prst="roundRect">
            <a:avLst/>
          </a:prstGeom>
          <a:solidFill>
            <a:srgbClr val="F0F4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3410712"/>
            <a:ext cx="1508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92D41"/>
                </a:solidFill>
              </a:defRPr>
            </a:pPr>
            <a:r>
              <a:t>460</a:t>
            </a:r>
          </a:p>
          <a:p>
            <a:pPr algn="ctr">
              <a:defRPr sz="900">
                <a:solidFill>
                  <a:srgbClr val="5F6973"/>
                </a:solidFill>
              </a:defRPr>
            </a:pPr>
            <a:r>
              <a:t>Leavers identified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Salifort Motors | Employee Turnover Analysis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D41"/>
                </a:solidFill>
                <a:latin typeface="Aptos Display"/>
              </a:defRPr>
            </a:pPr>
            <a:r>
              <a:t>Where HR should investigate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t>Model importance identifies where predictive signal is concentrated — not causal effects.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41732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5240" y="160020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t>Satisfaction, tenure and project load are the strongest signals.</a:t>
            </a:r>
          </a:p>
          <a:p>
            <a:pPr>
              <a:spcAft>
                <a:spcPts val="11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t>Working patterns and evaluation also matter.</a:t>
            </a:r>
          </a:p>
          <a:p>
            <a:pPr>
              <a:spcAft>
                <a:spcPts val="11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t>Use these signals to prioritise conversations and diagnostics, not to label employees or infer motive.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Salifort Motors | Employee Turnover Analysis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D41"/>
                </a:solidFill>
                <a:latin typeface="Aptos Display"/>
              </a:defRPr>
            </a:pPr>
            <a:r>
              <a:t>Recommended HR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t>Move from prediction to targeted, testable retention actions.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19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9047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39903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1"/>
                </a:solidFill>
              </a:defRPr>
            </a:pPr>
            <a:r>
              <a:t>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9903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Use risk flags for human HR review in a limited cohort.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60320"/>
            <a:ext cx="594360" cy="594360"/>
          </a:xfrm>
          <a:prstGeom prst="ellipse">
            <a:avLst/>
          </a:prstGeom>
          <a:solidFill>
            <a:srgbClr val="19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54203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1"/>
                </a:solidFill>
              </a:defRPr>
            </a:pPr>
            <a:r>
              <a:t>Diagnose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4203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Review satisfaction, workload/project allocation, tenure and progression context.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03320"/>
            <a:ext cx="594360" cy="594360"/>
          </a:xfrm>
          <a:prstGeom prst="ellipse">
            <a:avLst/>
          </a:prstGeom>
          <a:solidFill>
            <a:srgbClr val="19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7647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68503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1"/>
                </a:solidFill>
              </a:defRPr>
            </a:pPr>
            <a:r>
              <a:t>Intervene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8503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Use appropriate retention actions: manager conversation, workload rebalance, development or progression review.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846320"/>
            <a:ext cx="594360" cy="594360"/>
          </a:xfrm>
          <a:prstGeom prst="ellipse">
            <a:avLst/>
          </a:prstGeom>
          <a:solidFill>
            <a:srgbClr val="19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1947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82803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1"/>
                </a:solidFill>
              </a:defRPr>
            </a:pPr>
            <a: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82803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Track intervention uptake, subsequent turnover and false-alert rates.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Salifort Motors | Employee Turnover Analysis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D41"/>
                </a:solidFill>
                <a:latin typeface="Aptos Display"/>
              </a:defRPr>
            </a:pPr>
            <a:r>
              <a:t>Next steps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t>Predictive strength is necessary; responsible deployment is the real success criterion.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Validate on a future time period or fresh employee cohort before wider deployment.</a:t>
            </a:r>
          </a:p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Monitor model drift, recall, false positives and intervention outcomes on a regular cadence.</a:t>
            </a:r>
          </a:p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Check performance across relevant employee groups and investigate material disparities.</a:t>
            </a:r>
          </a:p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Restrict access to predictions and document permitted uses; retain human review for employment-related decisions.</a:t>
            </a:r>
          </a:p>
          <a:p>
            <a:pPr>
              <a:spcAft>
                <a:spcPts val="11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Treat feature importance as predictive evidence, not causal proof. Test whether interventions actually reduce preventable turnover.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532120"/>
            <a:ext cx="10607040" cy="594360"/>
          </a:xfrm>
          <a:prstGeom prst="roundRect">
            <a:avLst/>
          </a:prstGeom>
          <a:solidFill>
            <a:srgbClr val="19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64184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Board takeaway: approve a controlled HR pilot, not automated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Salifort Motors | Employee Turnover Analysis |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